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731520"/>
            <a:ext cx="4754880" cy="4754880"/>
          </a:xfrm>
          <a:prstGeom prst="ellipse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82880"/>
            <a:ext cx="3474720" cy="3474720"/>
          </a:xfrm>
          <a:prstGeom prst="ellipse">
            <a:avLst/>
          </a:prstGeom>
          <a:solidFill>
            <a:srgbClr val="162237"/>
          </a:solidFill>
          <a:ln w="12700">
            <a:solidFill>
              <a:srgbClr val="1622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Collisions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Routières à Ottawa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4572000" cy="45720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complet · 2017 – 2024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2560320" cy="1005840"/>
          </a:xfrm>
          <a:prstGeom prst="rect">
            <a:avLst/>
          </a:prstGeom>
          <a:solidFill>
            <a:srgbClr val="1B2E45"/>
          </a:solidFill>
          <a:ln w="12700">
            <a:solidFill>
              <a:srgbClr val="3B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94 334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 totales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3749040"/>
            <a:ext cx="2560320" cy="1005840"/>
          </a:xfrm>
          <a:prstGeom prst="rect">
            <a:avLst/>
          </a:prstGeom>
          <a:solidFill>
            <a:srgbClr val="1B2E45"/>
          </a:solidFill>
          <a:ln w="12700">
            <a:solidFill>
              <a:srgbClr val="3B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analysée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3749040"/>
            <a:ext cx="2560320" cy="1005840"/>
          </a:xfrm>
          <a:prstGeom prst="rect">
            <a:avLst/>
          </a:prstGeom>
          <a:solidFill>
            <a:srgbClr val="1B2E45"/>
          </a:solidFill>
          <a:ln w="12700">
            <a:solidFill>
              <a:srgbClr val="3B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4 260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Usagers vulnérables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749808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457200" cy="749808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annuel &amp; impact COVID-19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114800" cy="749808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74520"/>
            <a:ext cx="457200" cy="749808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391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Saisonnalité &amp; conditions hivernales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114800" cy="749808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34640"/>
            <a:ext cx="457200" cy="749808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3017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d'impact &amp; analyse temporelle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4114800" cy="749808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94760"/>
            <a:ext cx="457200" cy="749808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593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3977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aggravants : éclairage &amp; surface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4114800" cy="749808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914400"/>
            <a:ext cx="457200" cy="749808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76672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Usagers vulnérables — profil &amp; risques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874520"/>
            <a:ext cx="4114800" cy="749808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874520"/>
            <a:ext cx="457200" cy="749808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0391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76672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Dispositifs de contrôle de circulation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2834640"/>
            <a:ext cx="4114800" cy="749808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834640"/>
            <a:ext cx="457200" cy="749808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9992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76672" y="3017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géographique &amp; points noirs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3794760"/>
            <a:ext cx="4114800" cy="749808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794760"/>
            <a:ext cx="457200" cy="749808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593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76672" y="3977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intersections à risque &amp; recommandations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91440"/>
            <a:ext cx="475488" cy="475488"/>
          </a:xfrm>
          <a:prstGeom prst="ellipse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annuel par gravité &amp; impact COVID-19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2011680" cy="1280160"/>
          </a:xfrm>
          <a:prstGeom prst="rect">
            <a:avLst/>
          </a:prstGeom>
          <a:solidFill>
            <a:srgbClr val="162237"/>
          </a:solidFill>
          <a:ln w="12700">
            <a:solidFill>
              <a:srgbClr val="E04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960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536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de collisions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822960"/>
            <a:ext cx="2011680" cy="1280160"/>
          </a:xfrm>
          <a:prstGeom prst="rect">
            <a:avLst/>
          </a:prstGeom>
          <a:solidFill>
            <a:srgbClr val="162237"/>
          </a:solidFill>
          <a:ln w="12700">
            <a:solidFill>
              <a:srgbClr val="F097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960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23160" y="1536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 en 2020 (COVID)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2011680" cy="1280160"/>
          </a:xfrm>
          <a:prstGeom prst="rect">
            <a:avLst/>
          </a:prstGeom>
          <a:solidFill>
            <a:srgbClr val="162237"/>
          </a:solidFill>
          <a:ln w="12700">
            <a:solidFill>
              <a:srgbClr val="3DB8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960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1536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retrouvé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822960"/>
            <a:ext cx="2011680" cy="1280160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960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20840" y="1536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Dommages matériels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" cy="822960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77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90472" y="3017520"/>
            <a:ext cx="822960" cy="914400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90472" y="3977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23744" y="2834640"/>
            <a:ext cx="822960" cy="1097280"/>
          </a:xfrm>
          <a:prstGeom prst="rect">
            <a:avLst/>
          </a:prstGeom>
          <a:solidFill>
            <a:srgbClr val="E04A4A"/>
          </a:solidFill>
          <a:ln w="12700">
            <a:solidFill>
              <a:srgbClr val="E04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3977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57016" y="3337560"/>
            <a:ext cx="822960" cy="594360"/>
          </a:xfrm>
          <a:prstGeom prst="rect">
            <a:avLst/>
          </a:prstGeom>
          <a:solidFill>
            <a:srgbClr val="F0973B"/>
          </a:solidFill>
          <a:ln w="12700">
            <a:solidFill>
              <a:srgbClr val="F097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57016" y="3977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90288" y="3200400"/>
            <a:ext cx="822960" cy="731520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0288" y="3977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23560" y="3063240"/>
            <a:ext cx="822960" cy="868680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3977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56832" y="2971800"/>
            <a:ext cx="822960" cy="960120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3977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90104" y="2926080"/>
            <a:ext cx="822960" cy="1005840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90104" y="3977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1A2F45"/>
          </a:solidFill>
          <a:ln w="12700">
            <a:solidFill>
              <a:srgbClr val="3B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279392"/>
            <a:ext cx="73152" cy="5943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352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 pandémie COVID-19 a causé une chute historique de ~40 % en 2020. La reprise est progressive depuis 2021, atteignant un niveau élevé en 2024.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91440"/>
            <a:ext cx="475488" cy="475488"/>
          </a:xfrm>
          <a:prstGeom prst="ellipse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par saison &amp; conditions hivernales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4114800" cy="1188720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73152" cy="1188720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24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9875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B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1481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Neige, verglas, perte de contrôle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114800" cy="1188720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14400"/>
            <a:ext cx="73152" cy="1188720"/>
          </a:xfrm>
          <a:prstGeom prst="rect">
            <a:avLst/>
          </a:prstGeom>
          <a:solidFill>
            <a:srgbClr val="F0973B"/>
          </a:solidFill>
          <a:ln w="12700">
            <a:solidFill>
              <a:srgbClr val="F097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024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35240" y="9875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0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~27 %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92040" y="1481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Pluie, feuilles, visibilité réduite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4114800" cy="1188720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31720"/>
            <a:ext cx="73152" cy="1188720"/>
          </a:xfrm>
          <a:prstGeom prst="rect">
            <a:avLst/>
          </a:prstGeom>
          <a:solidFill>
            <a:srgbClr val="3DB87A"/>
          </a:solidFill>
          <a:ln w="12700">
            <a:solidFill>
              <a:srgbClr val="3DB8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41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2404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28986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 élevée, taux de blessures 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331720"/>
            <a:ext cx="4114800" cy="1188720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331720"/>
            <a:ext cx="73152" cy="11887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441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Printemps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35240" y="2404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92040" y="28986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la plus calme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1A2F45"/>
          </a:solidFill>
          <a:ln w="12700">
            <a:solidFill>
              <a:srgbClr val="3B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279392"/>
            <a:ext cx="73152" cy="5943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52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L'hiver concentre le plus d'accidents. En été, moins de volume mais un taux de blessures plus élevé (~20 %) en raison de vitesses supérieures.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91440"/>
            <a:ext cx="475488" cy="475488"/>
          </a:xfrm>
          <a:prstGeom prst="ellipse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d'impact &amp; analyse temporelle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4114800" cy="3246120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d'impact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Arrière (Rear-end)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3474720" cy="128016"/>
          </a:xfrm>
          <a:prstGeom prst="rect">
            <a:avLst/>
          </a:prstGeom>
          <a:solidFill>
            <a:srgbClr val="E04A4A"/>
          </a:solidFill>
          <a:ln w="12700">
            <a:solidFill>
              <a:srgbClr val="E04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417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SMV (véhicule lent)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21992"/>
            <a:ext cx="1820091" cy="128016"/>
          </a:xfrm>
          <a:prstGeom prst="rect">
            <a:avLst/>
          </a:prstGeom>
          <a:solidFill>
            <a:srgbClr val="F0973B"/>
          </a:solidFill>
          <a:ln w="12700">
            <a:solidFill>
              <a:srgbClr val="F097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9202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Latéral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24912"/>
            <a:ext cx="1489166" cy="12801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423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Virage (Turn)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27832"/>
            <a:ext cx="992777" cy="128016"/>
          </a:xfrm>
          <a:prstGeom prst="rect">
            <a:avLst/>
          </a:prstGeom>
          <a:solidFill>
            <a:srgbClr val="3DB87A"/>
          </a:solidFill>
          <a:ln w="12700">
            <a:solidFill>
              <a:srgbClr val="3DB8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926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Face-à-face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496389" cy="128016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4290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868680"/>
            <a:ext cx="4114800" cy="3246120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temporels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146304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Déc, Jan, Fév : mois les plus critiques en volume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&amp; vendredi : jours les plus accidentogènes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semaine : baisse notable des collisions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Été (juin–sept) : taux de blessures le plus élevé (~20 %)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graves : pics les samedis/dimanches de juillet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1A2F45"/>
          </a:solidFill>
          <a:ln w="12700">
            <a:solidFill>
              <a:srgbClr val="3B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279392"/>
            <a:ext cx="73152" cy="5943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52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Les collisions arrière dominent (42 %) — signe d'un manque de distance de sécurité. Les pics de jeudi/vendredi reflètent le trafic pendulaire combiné au froid hivernal.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91440"/>
            <a:ext cx="475488" cy="475488"/>
          </a:xfrm>
          <a:prstGeom prst="ellipse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aggravants : éclairage &amp; état de la surface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4114800" cy="3291840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d'éclairage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(Daylight)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3383280" cy="1371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Nuit (Dark)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86584"/>
            <a:ext cx="1200519" cy="137160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057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Aube / Crépuscule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436552" cy="137160"/>
          </a:xfrm>
          <a:prstGeom prst="rect">
            <a:avLst/>
          </a:prstGeom>
          <a:solidFill>
            <a:srgbClr val="F0973B"/>
          </a:solidFill>
          <a:ln w="12700">
            <a:solidFill>
              <a:srgbClr val="F097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651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Inconnu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75304"/>
            <a:ext cx="436552" cy="137160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868680"/>
            <a:ext cx="4114800" cy="3291840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la chaussée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1463040"/>
            <a:ext cx="320040" cy="3200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Sèche (Dry)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17647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le plus élevé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148840"/>
            <a:ext cx="320040" cy="320040"/>
          </a:xfrm>
          <a:prstGeom prst="ellipse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103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Mouillée (Wet)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24505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non négligeable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834640"/>
            <a:ext cx="320040" cy="320040"/>
          </a:xfrm>
          <a:prstGeom prst="ellipse">
            <a:avLst/>
          </a:prstGeom>
          <a:solidFill>
            <a:srgbClr val="E04A4A"/>
          </a:solidFill>
          <a:ln w="12700">
            <a:solidFill>
              <a:srgbClr val="E04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2788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Enneigée / Glacée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3136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individuel élevé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520440"/>
            <a:ext cx="320040" cy="320040"/>
          </a:xfrm>
          <a:prstGeom prst="ellipse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3474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3822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variables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1A2F45"/>
          </a:solidFill>
          <a:ln w="12700">
            <a:solidFill>
              <a:srgbClr val="3B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279392"/>
            <a:ext cx="73152" cy="5943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352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 majorité des accidents survient sur route sèche (volume normal), mais le risque individuel de perte de contrôle est bien plus élevé en conditions hivernales.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91440"/>
            <a:ext cx="475488" cy="475488"/>
          </a:xfrm>
          <a:prstGeom prst="ellipse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Usagers vulnérables — Profil &amp; niveau de risque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2560320" cy="3291840"/>
          </a:xfrm>
          <a:prstGeom prst="rect">
            <a:avLst/>
          </a:prstGeom>
          <a:solidFill>
            <a:srgbClr val="162237"/>
          </a:solidFill>
          <a:ln w="12700">
            <a:solidFill>
              <a:srgbClr val="E04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74320" y="21031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collisions impliquant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usager vulnérable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causent des blessures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des fatalités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3240" y="2011680"/>
            <a:ext cx="822960" cy="822960"/>
          </a:xfrm>
          <a:prstGeom prst="ellipse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1031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69080" y="868680"/>
            <a:ext cx="2286000" cy="3291840"/>
          </a:xfrm>
          <a:prstGeom prst="rect">
            <a:avLst/>
          </a:prstGeom>
          <a:solidFill>
            <a:srgbClr val="162237"/>
          </a:solidFill>
          <a:ln w="12700">
            <a:solidFill>
              <a:srgbClr val="3DB8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69080" y="1234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069080" y="2103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collisions entre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 seulement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entraînent des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blessures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868680"/>
            <a:ext cx="2286000" cy="3291840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960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détaillé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1417320"/>
            <a:ext cx="2011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Piétons : ~95 % de taux de blessures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Cyclistes : risque très élevé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Motos : 75–80 % de blessures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en été (36 %) et automne (32 %)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Surtout en plein jour (&gt;70 %)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denses / intersections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1A2F45"/>
          </a:solidFill>
          <a:ln w="12700">
            <a:solidFill>
              <a:srgbClr val="3B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4279392"/>
            <a:ext cx="73152" cy="5943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52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Un accident avec usager vulnérable a 5 à 6× plus de chances de causer des blessures qu'une collision entre voitures. Le piéton est le plus exposé.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91440"/>
            <a:ext cx="475488" cy="475488"/>
          </a:xfrm>
          <a:prstGeom prst="ellipse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Dispositifs de contrôle de la circulation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41248"/>
            <a:ext cx="8321040" cy="749808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73152" cy="749808"/>
          </a:xfrm>
          <a:prstGeom prst="rect">
            <a:avLst/>
          </a:prstGeom>
          <a:solidFill>
            <a:srgbClr val="E04A4A"/>
          </a:solidFill>
          <a:ln w="12700">
            <a:solidFill>
              <a:srgbClr val="E0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914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contrôle (No control)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2435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les plus accidentogènes — autoroutes, segments de route ouverts. Volume très élevé.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0" y="1024128"/>
            <a:ext cx="1280160" cy="384048"/>
          </a:xfrm>
          <a:prstGeom prst="rect">
            <a:avLst/>
          </a:prstGeom>
          <a:solidFill>
            <a:srgbClr val="162237"/>
          </a:solidFill>
          <a:ln w="12700">
            <a:solidFill>
              <a:srgbClr val="E04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0424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élevé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709928"/>
            <a:ext cx="8321040" cy="749808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709928"/>
            <a:ext cx="73152" cy="749808"/>
          </a:xfrm>
          <a:prstGeom prst="rect">
            <a:avLst/>
          </a:prstGeom>
          <a:solidFill>
            <a:srgbClr val="F0973B"/>
          </a:solidFill>
          <a:ln w="12700">
            <a:solidFill>
              <a:srgbClr val="F097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874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1783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Feux de circulation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1122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Intersections complexes — lieu de conflits de priorité, notamment pour les usagers vulnérables.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0" y="1892808"/>
            <a:ext cx="1280160" cy="384048"/>
          </a:xfrm>
          <a:prstGeom prst="rect">
            <a:avLst/>
          </a:prstGeom>
          <a:solidFill>
            <a:srgbClr val="162237"/>
          </a:solidFill>
          <a:ln w="12700">
            <a:solidFill>
              <a:srgbClr val="F097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191109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modéré–élevé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578608"/>
            <a:ext cx="8321040" cy="749808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578608"/>
            <a:ext cx="73152" cy="7498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43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2651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Panneaux Stop / Cédez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29809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collisions enregistrées. Efficacité prouvée sur la réduction de la vitesse d'impact.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0" y="2761488"/>
            <a:ext cx="1280160" cy="384048"/>
          </a:xfrm>
          <a:prstGeom prst="rect">
            <a:avLst/>
          </a:prstGeom>
          <a:solidFill>
            <a:srgbClr val="162237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27797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modéré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447288"/>
            <a:ext cx="8321040" cy="749808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447288"/>
            <a:ext cx="73152" cy="749808"/>
          </a:xfrm>
          <a:prstGeom prst="rect">
            <a:avLst/>
          </a:prstGeom>
          <a:solidFill>
            <a:srgbClr val="3DB87A"/>
          </a:solidFill>
          <a:ln w="12700">
            <a:solidFill>
              <a:srgbClr val="3DB8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6118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97280" y="3520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dispositifs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38496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d'âne, ralentisseurs, zones scolaires — faible volume de collisions recensées.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32320" y="3630168"/>
            <a:ext cx="1280160" cy="384048"/>
          </a:xfrm>
          <a:prstGeom prst="rect">
            <a:avLst/>
          </a:prstGeom>
          <a:solidFill>
            <a:srgbClr val="162237"/>
          </a:solidFill>
          <a:ln w="12700">
            <a:solidFill>
              <a:srgbClr val="3DB8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36484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risque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1A2F45"/>
          </a:solidFill>
          <a:ln w="12700">
            <a:solidFill>
              <a:srgbClr val="3B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279392"/>
            <a:ext cx="73152" cy="5943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352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Les feux de circulation ne garantissent pas la sécurité des usagers vulnérables. Les zones sans contrôle restent les plus à risque en volume total.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91440"/>
            <a:ext cx="475488" cy="475488"/>
          </a:xfrm>
          <a:prstGeom prst="ellipse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géographique — Dualité des risques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4160520" cy="3291840"/>
          </a:xfrm>
          <a:prstGeom prst="rect">
            <a:avLst/>
          </a:prstGeom>
          <a:solidFill>
            <a:srgbClr val="162237"/>
          </a:solidFill>
          <a:ln w="12700">
            <a:solidFill>
              <a:srgbClr val="3B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4160520" cy="457200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96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  Risque de densité urbaine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37490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urbain d'Ottawa : concentration maximale des accidents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Autoroute 417 : axe principal — collisions matérielles et blessures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By, rue Bank, Sud du canal : hotspots piétons/cyclistes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Noyaux secondaires : campus universitaires, centres commerciaux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prioritaires : apaisement trafic, pistes cyclables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160520" cy="3291840"/>
          </a:xfrm>
          <a:prstGeom prst="rect">
            <a:avLst/>
          </a:prstGeom>
          <a:solidFill>
            <a:srgbClr val="162237"/>
          </a:solidFill>
          <a:ln w="12700">
            <a:solidFill>
              <a:srgbClr val="F097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68680"/>
            <a:ext cx="4160520" cy="457200"/>
          </a:xfrm>
          <a:prstGeom prst="rect">
            <a:avLst/>
          </a:prstGeom>
          <a:solidFill>
            <a:srgbClr val="F0973B"/>
          </a:solidFill>
          <a:ln w="12700">
            <a:solidFill>
              <a:srgbClr val="F097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96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  Risque environnemental hivernal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463040"/>
            <a:ext cx="37490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 TOUT le réseau routier : urbain, périphérique et rural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Autoroute 417 et artères principales : fortement touchés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secondaires : 'poudrage' diffus de collisions hivernales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ubiquiste : personne n'est à l'abri lors des intempéries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requises : déneigement, épandage, sensibilisation à grande échelle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1A2F45"/>
          </a:solidFill>
          <a:ln w="12700">
            <a:solidFill>
              <a:srgbClr val="3B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4279392"/>
            <a:ext cx="73152" cy="5943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52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L'autoroute 417 est un point noir constant. Les risques urbains se concentrent ; les risques hivernaux se généralisent à tout le territoire.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91440"/>
            <a:ext cx="475488" cy="475488"/>
          </a:xfrm>
          <a:prstGeom prst="ellipse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intersections à risque &amp; recommandations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9EDB"/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sites à risque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4206240" cy="585216"/>
          </a:xfrm>
          <a:prstGeom prst="rect">
            <a:avLst/>
          </a:prstGeom>
          <a:solidFill>
            <a:srgbClr val="162237"/>
          </a:solidFill>
          <a:ln w="12700">
            <a:solidFill>
              <a:srgbClr val="E04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2527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_3Z07AN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527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Vol: &gt; 500  |  Score: &gt; 250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1344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11096"/>
            <a:ext cx="4206240" cy="585216"/>
          </a:xfrm>
          <a:prstGeom prst="rect">
            <a:avLst/>
          </a:prstGeom>
          <a:solidFill>
            <a:srgbClr val="162237"/>
          </a:solidFill>
          <a:ln w="12700">
            <a:solidFill>
              <a:srgbClr val="F097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9568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0002237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2311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Vol: ~280  |  Score: ~145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0482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Élevé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615184"/>
            <a:ext cx="4206240" cy="585216"/>
          </a:xfrm>
          <a:prstGeom prst="rect">
            <a:avLst/>
          </a:prstGeom>
          <a:solidFill>
            <a:srgbClr val="162237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6609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0012421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29352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Vol: ~260  |  Score: ~110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27523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Modéré-élevé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319272"/>
            <a:ext cx="4206240" cy="585216"/>
          </a:xfrm>
          <a:prstGeom prst="rect">
            <a:avLst/>
          </a:prstGeom>
          <a:solidFill>
            <a:srgbClr val="162237"/>
          </a:solidFill>
          <a:ln w="12700">
            <a:solidFill>
              <a:srgbClr val="E04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3649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0000625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6393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Vol: ~180  |  Score: ~160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34564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Gravité forte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207008"/>
            <a:ext cx="4114800" cy="585216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1252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Audit prioritaire _3Z07AN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15361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Signalisation, visibilité, configuration des voies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911096"/>
            <a:ext cx="4114800" cy="585216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19568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Ciblage par gravité (sites 🔴)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2240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Radars photo, modification rayons de virage, phases feux protégées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615184"/>
            <a:ext cx="4114800" cy="585216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26609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Fluidification du trafic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2944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à fort volume/faible gravité : réduire collisions arrière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319272"/>
            <a:ext cx="4114800" cy="585216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3364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Protection des vulnérables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3648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cyclables, traverses sécurisées au centre-ville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1A2F45"/>
          </a:solidFill>
          <a:ln w="12700">
            <a:solidFill>
              <a:srgbClr val="3B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4279392"/>
            <a:ext cx="73152" cy="5943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352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Un petit nombre d'intersections concentre une part disproportionnée des accidents. Le score de risque (volume × gravité) guide la priorisation des investissements.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4A4A"/>
          </a:solidFill>
          <a:ln w="12700">
            <a:solidFill>
              <a:srgbClr val="E04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04A4A"/>
          </a:solidFill>
          <a:ln w="12700">
            <a:solidFill>
              <a:srgbClr val="E04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Synthèse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14800" cy="36576"/>
          </a:xfrm>
          <a:prstGeom prst="rect">
            <a:avLst/>
          </a:prstGeom>
          <a:solidFill>
            <a:srgbClr val="E04A4A"/>
          </a:solidFill>
          <a:ln w="12700">
            <a:solidFill>
              <a:srgbClr val="E04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51560"/>
            <a:ext cx="4160520" cy="804672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stable 2017–2019, chute COVID 2020, reprise à la hausse jusqu'en 2024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4160520" cy="804672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21488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L'hiver est le facteur de risque structurel majeur (~5 mois/an affectés)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160520" cy="804672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246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31546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collisions arrière dominent (42 %) — distance de sécurité insuffisante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4160520" cy="804672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40680" y="11430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85 % des accidents avec usagers vulnérables causent des blessures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057400"/>
            <a:ext cx="4160520" cy="804672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40680" y="21488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_3Z07AN est l'anomalie statistique n°1 d'Ottawa — audit impératif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063240"/>
            <a:ext cx="4160520" cy="804672"/>
          </a:xfrm>
          <a:prstGeom prst="rect">
            <a:avLst/>
          </a:prstGeom>
          <a:solidFill>
            <a:srgbClr val="16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246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40680" y="31546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urbain dense + risque hivernal généralisé = deux stratégies distinctes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251960"/>
            <a:ext cx="832104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E04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431596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routière à Ottawa — Données 2017–2024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des Collisions Routières à Ottawa</dc:title>
  <dc:subject>PptxGenJS Presentation</dc:subject>
  <dc:creator>PptxGenJS</dc:creator>
  <cp:lastModifiedBy>PptxGenJS</cp:lastModifiedBy>
  <cp:revision>1</cp:revision>
  <dcterms:created xsi:type="dcterms:W3CDTF">2026-03-24T20:19:28Z</dcterms:created>
  <dcterms:modified xsi:type="dcterms:W3CDTF">2026-03-24T20:19:28Z</dcterms:modified>
</cp:coreProperties>
</file>