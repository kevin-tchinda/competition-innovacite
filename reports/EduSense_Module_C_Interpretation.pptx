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0"/>
            <a:ext cx="8321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C — Motifs des Collisions Graves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11480" y="219456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d'association (Apriori) + Arbre de décision · Ottawa 2017–2024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11480" y="3291840"/>
            <a:ext cx="1965960" cy="11430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3337560"/>
            <a:ext cx="1965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965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11480" y="385876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collisions graves analysées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87752" y="3291840"/>
            <a:ext cx="1965960" cy="11430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87752" y="3337560"/>
            <a:ext cx="1965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587752" y="385876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gravité global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64024" y="3291840"/>
            <a:ext cx="1965960" cy="11430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64024" y="3337560"/>
            <a:ext cx="1965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11.23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64024" y="385876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la plus forte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940296" y="3291840"/>
            <a:ext cx="1965960" cy="11430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40296" y="3337560"/>
            <a:ext cx="1965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54.4 %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940296" y="385876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— aucun vulnérable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8C8D"/>
                </a:solidFill>
              </a:rPr>
              <a:t>EduSense · Ville d'Ottawa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méthodologique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16052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416052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96112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 — Règles d'association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353312"/>
            <a:ext cx="3749040" cy="292608"/>
          </a:xfrm>
          <a:prstGeom prst="rect">
            <a:avLst/>
          </a:prstGeom>
          <a:solidFill>
            <a:srgbClr val="C0392B">
              <a:alpha val="15000"/>
            </a:srgbClr>
          </a:solidFill>
          <a:ln w="12700">
            <a:solidFill>
              <a:srgbClr val="C0392B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5331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≥ 0.05 · Lift ≥ 1.2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719072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Cherche les combinaisons de facteurs qui apparaissent ensemble dans les 965 collisions graves. Travaille uniquement sur les graves pour trouver leurs patterns intrinsèques.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816352"/>
            <a:ext cx="3749040" cy="475488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81635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Découvre des associations non intuitives entre variables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364992"/>
            <a:ext cx="3749040" cy="475488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36499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Ne dit pas ce qui différencie graves des normales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804672"/>
            <a:ext cx="416052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804672"/>
            <a:ext cx="4160520" cy="54864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896112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Arbre de décision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92040" y="1353312"/>
            <a:ext cx="3749040" cy="292608"/>
          </a:xfrm>
          <a:prstGeom prst="rect">
            <a:avLst/>
          </a:prstGeom>
          <a:solidFill>
            <a:srgbClr val="2980B9">
              <a:alpha val="15000"/>
            </a:srgbClr>
          </a:solidFill>
          <a:ln w="12700">
            <a:solidFill>
              <a:srgbClr val="2980B9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35331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= 4 · Min_leaf = 15 · class_weight=balanced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1719072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Apprend à discriminer les graves (1%) des normales (99%) sur l'ensemble du dataset. Le poids équilibré compense le déséquilibre de classes.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92040" y="2816352"/>
            <a:ext cx="3749040" cy="475488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281635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Identifie les features les plus discriminantes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92040" y="3364992"/>
            <a:ext cx="3749040" cy="475488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336499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F1 ~0.18 attendu (déséquilibre 1/99)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4572000"/>
            <a:ext cx="8503920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5902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déséquilibre : seulement 1% de collisions graves → l'arbre privilégie le rappel sur la précision. F1 ~0.18 est normal et attendu.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d'association — Top résultats (support≥0.05, lift≥1.2)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54864" cy="12984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5039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1 — Conditions météo-surface (lift ~7-11)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216152"/>
            <a:ext cx="3931920" cy="749808"/>
          </a:xfrm>
          <a:prstGeom prst="rect">
            <a:avLst/>
          </a:prstGeom>
          <a:solidFill>
            <a:srgbClr val="C0392B">
              <a:alpha val="8000"/>
            </a:srgbClr>
          </a:solidFill>
          <a:ln w="12700">
            <a:solidFill>
              <a:srgbClr val="C0392B">
                <a:alpha val="2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234440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hivernale → Neige/verglas   lift=11.23  conf=71%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6072" y="1527048"/>
            <a:ext cx="3767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la chaussée est enneigée, la neige active est quasi certaine (71%). Co-occurrence logique mais lift exceptionnel.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216152"/>
            <a:ext cx="3931920" cy="749808"/>
          </a:xfrm>
          <a:prstGeom prst="rect">
            <a:avLst/>
          </a:prstGeom>
          <a:solidFill>
            <a:srgbClr val="C0392B">
              <a:alpha val="8000"/>
            </a:srgbClr>
          </a:solidFill>
          <a:ln w="12700">
            <a:solidFill>
              <a:srgbClr val="C0392B">
                <a:alpha val="2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6592" y="1234440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Pluie → Surface mouillée   lift=7.13  conf=98%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36592" y="1527048"/>
            <a:ext cx="3767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Confiance de 98% — règle quasi déterministe. Très haute confiance mais faible valeur prédictive indépendante.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167128"/>
            <a:ext cx="85039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167128"/>
            <a:ext cx="54864" cy="129844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240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2 — Piéton + infrastructure (lift ~3.2)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606040"/>
            <a:ext cx="3931920" cy="749808"/>
          </a:xfrm>
          <a:prstGeom prst="rect">
            <a:avLst/>
          </a:prstGeom>
          <a:solidFill>
            <a:srgbClr val="E67E22">
              <a:alpha val="8000"/>
            </a:srgbClr>
          </a:solidFill>
          <a:ln w="12700">
            <a:solidFill>
              <a:srgbClr val="E67E22">
                <a:alpha val="2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2624328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Piéton impliqué → Feux + Impact SMV   lift=3.18  conf=37%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6072" y="2916936"/>
            <a:ext cx="3767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piéton grave survient souvent aux feux avec un impact SMV — véhicule qui grille le rouge.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2606040"/>
            <a:ext cx="3931920" cy="749808"/>
          </a:xfrm>
          <a:prstGeom prst="rect">
            <a:avLst/>
          </a:prstGeom>
          <a:solidFill>
            <a:srgbClr val="E67E22">
              <a:alpha val="8000"/>
            </a:srgbClr>
          </a:solidFill>
          <a:ln w="12700">
            <a:solidFill>
              <a:srgbClr val="E67E22">
                <a:alpha val="2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36592" y="2624328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Feux + Impact SMV → Piéton impliqué   lift=3.18  conf=77%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36592" y="2916936"/>
            <a:ext cx="3767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Symétriquement : quand il y a des feux et un SMV, 77% des cas graves impliquent un piéton.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557016"/>
            <a:ext cx="85039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557016"/>
            <a:ext cx="54864" cy="129844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63016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3 — Angle + Panneau stop (lift ~2.8-3.1)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" y="3995928"/>
            <a:ext cx="3931920" cy="749808"/>
          </a:xfrm>
          <a:prstGeom prst="rect">
            <a:avLst/>
          </a:prstGeom>
          <a:solidFill>
            <a:srgbClr val="2980B9">
              <a:alpha val="8000"/>
            </a:srgbClr>
          </a:solidFill>
          <a:ln w="12700">
            <a:solidFill>
              <a:srgbClr val="2980B9">
                <a:alpha val="2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" y="4014216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→ Panneau stop + Lumière jour   lift=3.11  conf=52%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76072" y="4306824"/>
            <a:ext cx="3767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collisions angulaires graves se produisent souvent de jour à une intersection stop — conducteur qui ne cède pas la priorité.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63440" y="3995928"/>
            <a:ext cx="3931920" cy="749808"/>
          </a:xfrm>
          <a:prstGeom prst="rect">
            <a:avLst/>
          </a:prstGeom>
          <a:solidFill>
            <a:srgbClr val="2980B9">
              <a:alpha val="8000"/>
            </a:srgbClr>
          </a:solidFill>
          <a:ln w="12700">
            <a:solidFill>
              <a:srgbClr val="2980B9">
                <a:alpha val="2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36592" y="4014216"/>
            <a:ext cx="3767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Panneau stop → Angle + Aucun vulnérable   lift=2.93  conf=24%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36592" y="4306824"/>
            <a:ext cx="37673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stops sans vulnérable génèrent des collisions angulaires — accidents purement automobiles aux intersections.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Arbre de décision — Feature importances &amp; matrice de confusion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des features (Gini)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1170432"/>
            <a:ext cx="1783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vulnérable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148840" y="1243584"/>
            <a:ext cx="3474720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87568" y="117043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0.544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664208"/>
            <a:ext cx="1783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Arrière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148840" y="1737360"/>
            <a:ext cx="1194435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07283" y="166420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0.187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2157984"/>
            <a:ext cx="1783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Latéral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148840" y="2231136"/>
            <a:ext cx="1175273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8121" y="215798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" y="2651760"/>
            <a:ext cx="1783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Face-à-face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148840" y="2724912"/>
            <a:ext cx="351304" cy="23774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4152" y="2651760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3145536"/>
            <a:ext cx="1783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Feux de circulation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148840" y="3218688"/>
            <a:ext cx="57486" cy="237744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70334" y="3145536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0.009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" y="3639312"/>
            <a:ext cx="1783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148840" y="3712464"/>
            <a:ext cx="38324" cy="237744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51172" y="363931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0040" y="4133088"/>
            <a:ext cx="1783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Été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148840" y="4206240"/>
            <a:ext cx="31937" cy="237744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44785" y="413308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7772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de confusion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937760" y="1170432"/>
            <a:ext cx="3840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35040" y="1170432"/>
            <a:ext cx="1371600" cy="384048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35040" y="117043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406640" y="1170432"/>
            <a:ext cx="1371600" cy="384048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06640" y="117043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37760" y="1554480"/>
            <a:ext cx="10972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37760" y="2542032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035040" y="1554480"/>
            <a:ext cx="1371600" cy="98755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35040" y="1554480"/>
            <a:ext cx="13716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44 946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406640" y="1554480"/>
            <a:ext cx="1371600" cy="987552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06640" y="1554480"/>
            <a:ext cx="13716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48 423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035040" y="2542032"/>
            <a:ext cx="1371600" cy="914400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35040" y="2542032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4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2200" dirty="0"/>
          </a:p>
        </p:txBody>
      </p:sp>
      <p:sp>
        <p:nvSpPr>
          <p:cNvPr id="40" name="Shape 38"/>
          <p:cNvSpPr/>
          <p:nvPr/>
        </p:nvSpPr>
        <p:spPr>
          <a:xfrm>
            <a:off x="7406640" y="2542032"/>
            <a:ext cx="1371600" cy="91440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06640" y="2542032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883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937760" y="35478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 graves = 883/(883+82) = 91.5%  ·  Précision = 883/(883+48423) = 1.8%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20040" y="4572000"/>
            <a:ext cx="8503920" cy="384048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5902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: "Aucun vulnérable" domine (54.4%) — sa présence ou absence est le split le plus discriminant. Arrière+Latéral ensemble = 37% — ces impacts sont protecteurs (moins graves).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de l'arbre — Les chemins vers une collision grave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L'arbre commence par un split racine clé : y a-t-il un usager vulnérable 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114800" cy="3639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41148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6187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 A — Usager vulnérable présent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64208"/>
            <a:ext cx="3840480" cy="530352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70078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Piéton + pas arrière + nuit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193852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GRAVE (1 355 cas)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3840480" cy="530352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32257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Piéton + pas arrière + feux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66928" y="25603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GRAVE (216 cas)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907792"/>
            <a:ext cx="3840480" cy="530352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94436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Piéton + pas arrière + feux rouges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66928" y="31821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GRAVE (60 cas)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529584"/>
            <a:ext cx="3840480" cy="530352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56616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Cycliste + sans contrôle + pluie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66928" y="380390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GRAVE (184 cas)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4151376"/>
            <a:ext cx="3840480" cy="530352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18795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Cycliste + lumière jour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66928" y="442569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GRAVE (312 cas)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09160" y="1170432"/>
            <a:ext cx="4114800" cy="3639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1170432"/>
            <a:ext cx="4114800" cy="54864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126187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 B — Aucun usager vulnérable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46320" y="1664208"/>
            <a:ext cx="3840480" cy="530352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170078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d'arrière + pas latéral + face-à-face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956048" y="193852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GRAVE (22 286 cas)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46320" y="2286000"/>
            <a:ext cx="3840480" cy="530352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56048" y="2322576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d'arrière + latéral + été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956048" y="256032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Normal (10 179 cas)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46320" y="2907792"/>
            <a:ext cx="3840480" cy="530352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56048" y="294436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Arrière + hiver + feux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956048" y="318211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Normal (5 188 cas)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46320" y="3529584"/>
            <a:ext cx="3840480" cy="530352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56048" y="356616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Arrière + hiver + sans feux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956048" y="380390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Normal (12 156 cas)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46320" y="4151376"/>
            <a:ext cx="3840480" cy="530352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56048" y="418795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d'arrière + face-à-face absent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956048" y="442569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Normal (44 593 cas)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individuel — Quels facteurs multiplient le risque de gravité 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gravité global = 1.02%  —  un lift de 12 signifie que le facteur multiplie ce taux par 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8503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170432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Piéton impliqué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1307592"/>
            <a:ext cx="3474720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16752" y="1170432"/>
            <a:ext cx="685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×12.57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0" y="1170432"/>
            <a:ext cx="2240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×12.6 — facteur dominant absolu  (n=1 828, taux=12.8%)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0040" y="1792224"/>
            <a:ext cx="8503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1792224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Cycliste impliqué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68880" y="1929384"/>
            <a:ext cx="1738742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80774" y="1792224"/>
            <a:ext cx="685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×6.29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0" y="1792224"/>
            <a:ext cx="2240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×6.3 — vulnérabilité physique évidente  (n=1 662, taux=6.4%)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0040" y="2414016"/>
            <a:ext cx="8503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1480" y="2414016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Face-à-face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468880" y="2551176"/>
            <a:ext cx="1459548" cy="23774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01580" y="2414016"/>
            <a:ext cx="685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×5.28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0" y="2414016"/>
            <a:ext cx="2240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×5.3 — choc frontal, vitesses cumulées  (n=1 277, taux=5.4%)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" y="3035808"/>
            <a:ext cx="8503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1480" y="3035808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SMV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468880" y="3172968"/>
            <a:ext cx="530745" cy="23774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72777" y="3035808"/>
            <a:ext cx="685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×1.92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83680" y="3035808"/>
            <a:ext cx="2240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×1.9 — implique souvent un piéton  (n=22 357, taux=1.96%)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0040" y="3657600"/>
            <a:ext cx="8503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11480" y="365760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Panneau stop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468880" y="3794760"/>
            <a:ext cx="428466" cy="23774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70498" y="3657600"/>
            <a:ext cx="685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×1.55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83680" y="3657600"/>
            <a:ext cx="2240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×1.6 — non-respect de priorité  (n=10 185, taux=1.58%)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0040" y="4279392"/>
            <a:ext cx="8503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11480" y="4279392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Lumière — nuit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468880" y="4416552"/>
            <a:ext cx="422937" cy="23774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64969" y="4279392"/>
            <a:ext cx="685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×1.53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583680" y="4279392"/>
            <a:ext cx="2240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×1.5 — visibilité réduite  (n=21 196, taux=1.56%)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— 5 profils de collision grave identifiés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2761488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2761488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886968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9768" y="119786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piéton aux feux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" y="1581912"/>
            <a:ext cx="2560320" cy="256032"/>
          </a:xfrm>
          <a:prstGeom prst="rect">
            <a:avLst/>
          </a:prstGeom>
          <a:solidFill>
            <a:srgbClr val="C0392B">
              <a:alpha val="12000"/>
            </a:srgbClr>
          </a:solidFill>
          <a:ln w="12700">
            <a:solidFill>
              <a:srgbClr val="C0392B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581912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Signaux : Piéton + Feux + Impact SMV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29768" y="187452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combiné ~3.2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9768" y="2112264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Feux piétons plus longs, détection SMV automatique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64408" y="777240"/>
            <a:ext cx="2761488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64408" y="777240"/>
            <a:ext cx="2761488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74136" y="886968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74136" y="119786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cycliste de jour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74136" y="1581912"/>
            <a:ext cx="2560320" cy="256032"/>
          </a:xfrm>
          <a:prstGeom prst="rect">
            <a:avLst/>
          </a:prstGeom>
          <a:solidFill>
            <a:srgbClr val="C0392B">
              <a:alpha val="12000"/>
            </a:srgbClr>
          </a:solidFill>
          <a:ln w="12700">
            <a:solidFill>
              <a:srgbClr val="C0392B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1581912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Signaux : Cycliste + Lumière jour + Sans contrôle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74136" y="187452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cycliste ×6.3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74136" y="2112264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Pistes cyclables séparées sur corridors à volume élevé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08776" y="777240"/>
            <a:ext cx="2761488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08776" y="777240"/>
            <a:ext cx="2761488" cy="5486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18504" y="886968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18504" y="119786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Choc frontal hors vulnérable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18504" y="1581912"/>
            <a:ext cx="2560320" cy="256032"/>
          </a:xfrm>
          <a:prstGeom prst="rect">
            <a:avLst/>
          </a:prstGeom>
          <a:solidFill>
            <a:srgbClr val="E67E22">
              <a:alpha val="12000"/>
            </a:srgbClr>
          </a:solidFill>
          <a:ln w="12700">
            <a:solidFill>
              <a:srgbClr val="E67E22">
                <a:alpha val="3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1581912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Signaux : Face-à-face + Aucun vulnérable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18504" y="187452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face-à-face ×5.3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318504" y="2112264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Séparateurs centraux sur artères à double sens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2862072"/>
            <a:ext cx="416052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2862072"/>
            <a:ext cx="4160520" cy="5486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9768" y="297180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29768" y="3282696"/>
            <a:ext cx="3959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à panneau stop de jour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29768" y="3666744"/>
            <a:ext cx="3959352" cy="256032"/>
          </a:xfrm>
          <a:prstGeom prst="rect">
            <a:avLst/>
          </a:prstGeom>
          <a:solidFill>
            <a:srgbClr val="F39C12">
              <a:alpha val="12000"/>
            </a:srgbClr>
          </a:solidFill>
          <a:ln w="12700">
            <a:solidFill>
              <a:srgbClr val="F39C12">
                <a:alpha val="3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" y="3666744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Signaux : Angle + Panneau stop + Lumière jour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29768" y="3959352"/>
            <a:ext cx="3959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règle assoc. 3.11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29768" y="4197096"/>
            <a:ext cx="3959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Remplacement stops critiques par feux aux heures de pointe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63440" y="2862072"/>
            <a:ext cx="416052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63440" y="2862072"/>
            <a:ext cx="4160520" cy="54864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73168" y="297180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773168" y="3282696"/>
            <a:ext cx="3959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hivernales actives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773168" y="3666744"/>
            <a:ext cx="3959352" cy="256032"/>
          </a:xfrm>
          <a:prstGeom prst="rect">
            <a:avLst/>
          </a:prstGeom>
          <a:solidFill>
            <a:srgbClr val="2980B9">
              <a:alpha val="12000"/>
            </a:srgbClr>
          </a:solidFill>
          <a:ln w="12700">
            <a:solidFill>
              <a:srgbClr val="2980B9">
                <a:alpha val="3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28032" y="3666744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Signaux : Surface hivernale + Neige/verglas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73168" y="3959352"/>
            <a:ext cx="3959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association 11.23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773168" y="4197096"/>
            <a:ext cx="3959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Déneigement prioritaire des corridors à risque élevé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&amp; Liens inter-modules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4069080" cy="1691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51560"/>
            <a:ext cx="64008" cy="1691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14300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76072" y="15087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absolue — piétons et cyclistes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76072" y="1892808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usagers vulnérables multiplient le risque par 6 à 13. Toute intervention de sécurité routière doit prioriser leurs corridors de déplacement.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4069080" cy="1691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051560"/>
            <a:ext cx="64008" cy="16916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114300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19472" y="15087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Face-à-face — séparateurs physiques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919472" y="1892808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×5.3 — les chocs frontaux sont sur-représentés dans les graves. Installer des séparateurs centraux sur les artères à double sens identifiées dans le Module A.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2926080"/>
            <a:ext cx="4069080" cy="1691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926080"/>
            <a:ext cx="64008" cy="16916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" y="301752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76072" y="33832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Angles aux stops — conversion en feux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76072" y="3767328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combinaison Angle+Stop+Jour ressort dans 3 règles distinctes (lift 2.93-3.11). Les intersections à stop du Module A à score élevé sont les cibles prioritaires.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4069080" cy="1691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2926080"/>
            <a:ext cx="64008" cy="1691640"/>
          </a:xfrm>
          <a:prstGeom prst="rect">
            <a:avLst/>
          </a:prstGeom>
          <a:solidFill>
            <a:srgbClr val="82E0AA"/>
          </a:solidFill>
          <a:ln w="12700">
            <a:solidFill>
              <a:srgbClr val="82E0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301752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2E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919472" y="33832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Module E &amp; F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919472" y="3767328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profils piéton/cycliste alimentent directement le Module E (profilage vulnérables). Les intersections à grave élevée sans vulnérable → Module F (anomalies).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11480" y="4846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EduSense · Module C — Motifs collisions graves · Ottawa 2017–2024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EduSense — Module C : Motifs des Collisions Graves</dc:title>
  <dc:subject>PptxGenJS Presentation</dc:subject>
  <dc:creator>PptxGenJS</dc:creator>
  <cp:lastModifiedBy>PptxGenJS</cp:lastModifiedBy>
  <cp:revision>1</cp:revision>
  <dcterms:created xsi:type="dcterms:W3CDTF">2026-03-24T20:26:55Z</dcterms:created>
  <dcterms:modified xsi:type="dcterms:W3CDTF">2026-03-24T20:26:55Z</dcterms:modified>
</cp:coreProperties>
</file>